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5" r:id="rId3"/>
    <p:sldId id="266" r:id="rId4"/>
    <p:sldId id="267" r:id="rId5"/>
    <p:sldId id="268" r:id="rId6"/>
    <p:sldId id="269" r:id="rId7"/>
    <p:sldId id="271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5223" autoAdjust="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2E547D-1406-4A6F-8F93-E441204CE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67F8A-B889-49B3-AC77-5DDF11A08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2889B-A0AC-4482-8592-5C96F2309420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AFD4F-C0E7-421C-AF77-6F9CC963C9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4AB9F-6726-4FB1-8769-82E23336C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29299-61FF-4B93-ADA6-2FD5975D62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27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EB223-FFC0-462A-A3B8-EAA7CE0F8CBD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49E9A-41F7-4779-A581-48A7C374A22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518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849E9A-41F7-4779-A581-48A7C374A22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20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18B7-7F68-4CC9-8291-332587FA3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1D6BB-0446-49E8-8677-EADF274E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EE24-534A-40F1-99E4-00B7D5F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4011-48FF-493D-8286-F62D3455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EFCD-7E72-4882-86DC-2F371D7D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1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6159-1280-4EE9-96D3-A56BD582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7A78-1874-488A-B215-7D763D338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B3D1-3138-4B69-BF5D-4B1A213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F90C5-31F4-4A22-AC00-3FB5ED29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F787E-B946-4091-ABC6-F9DB06B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27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AA11-CC97-44E5-AE4D-808FD741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B6CB-9460-4BCA-86C5-5F26357AB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AB0F6-401D-4BAF-A300-65AD684DF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61BBA-B185-4B45-B152-3D320E15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CD760-96AC-4821-A56B-0B805F2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50665-D5B5-4D0B-B2F0-CB6B027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6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47C3-C498-415A-A057-E19BCEB5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6677F-2712-4810-A3AA-56FA7538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1B54A-6775-4978-8E19-32694C9B5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A1303-B245-476D-BD02-A4E4A359F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E898F-5B79-46F1-89C1-F827997CC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417A4D-2EC9-4294-BFF4-EAE22EE1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0E317-3602-42A1-BB7F-0184072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E2C97-E26C-4A8B-93A0-B01E2C7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9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68FC-5755-447A-8D7F-9ADED3E9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50287-81AA-46CA-8CB3-53A7F831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BA4AA-02C9-459E-9362-3DA60E3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A2C8F-DBB4-4235-A67E-FB4039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39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ACAA5-F8E7-46E9-8BA7-A510948B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2DEE8-5654-4DCA-A8D0-D883E52B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179A5-4329-4057-9DEB-5B6E3AD1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DA80-336B-4DBB-91A1-6E3E4B3C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0D456-F0A3-4789-A310-A23F01B2E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A8B05-7071-44D4-80F7-3E8191C9A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8562E-E6F1-449B-909C-98426BA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47A9A-FB08-407B-A73A-0AC513F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F841F-796A-4FE6-B5E0-C8A49867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8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474D-6779-4C23-BD3C-82F5DC3E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1096C-E430-49C7-A801-21C0BD95D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4828F-334F-4A50-850D-10684F24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293F4-2B70-4BB5-A982-219E4133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9A86F-B378-4759-B50E-2E0BFAE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95BDC-FC58-4638-AA59-A3DA993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3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7D73-EDDA-49A6-BA12-1CA980DA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9B82E-4CA1-47A5-B133-FBD4D8A83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267F-D142-4D04-9F03-6CB099E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127CA-154D-4E90-B776-A2EE71F7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F0BA5-F4EE-4282-B111-76B869B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40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6E92A-52E0-4710-BDEF-0A1534685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240E1-5EB0-47FD-AA37-BF945D136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4243-F1E4-487A-ABEC-30516A0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58244-98FD-472D-AB8C-075F71C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98D5A-820D-4519-967F-33320971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4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80BC3B-525F-4038-9330-0729879F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29186-93D7-46FA-AE02-36D94260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F1CEB-0530-4996-BAEF-2E6A04DA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F21A4-E71B-4D3A-AF45-E989C23A7BB1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CFF3D-7353-4B4D-9E75-FA835E06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2C8D6-8B0B-4982-9EE4-AA823C69C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F1B4E-90EC-4A51-B6E5-B702C054EC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60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2.svg"/><Relationship Id="rId4" Type="http://schemas.openxmlformats.org/officeDocument/2006/relationships/image" Target="../media/image8.sv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1529" y="3866009"/>
            <a:ext cx="7984124" cy="1183322"/>
          </a:xfrm>
        </p:spPr>
        <p:txBody>
          <a:bodyPr anchor="t">
            <a:noAutofit/>
          </a:bodyPr>
          <a:lstStyle/>
          <a:p>
            <a:pPr algn="r"/>
            <a:r>
              <a:rPr lang="en-IN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Semantic-Aware Archival of Low-Impact Social Media Posts Using Tiered Compression and Cold Storage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3236" y="5664370"/>
            <a:ext cx="7576457" cy="945084"/>
          </a:xfrm>
        </p:spPr>
        <p:txBody>
          <a:bodyPr anchor="b">
            <a:noAutofit/>
          </a:bodyPr>
          <a:lstStyle/>
          <a:p>
            <a:pPr algn="r"/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/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R.S. Shreenidhi  22MID0306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R Sivani  22MID0005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Alyssa Mariam Kuruvilla 22MID0076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1100">
                <a:latin typeface="Times New Roman" panose="02020603050405020304" pitchFamily="18" charset="0"/>
                <a:cs typeface="Times New Roman" panose="02020603050405020304" pitchFamily="18" charset="0"/>
              </a:rPr>
              <a:t>Keerthana G  22MID0144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BA87361-6D30-46E4-834B-719CF5905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8332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89DB1C0-FEEC-4CB6-88B2-F9C5562E0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Open Book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5250" y="164573"/>
            <a:ext cx="1636279" cy="1636279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117" y="615908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8163D1C-ED91-4D5F-A33B-CF1256B27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709" y="780500"/>
            <a:ext cx="2852928" cy="28529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phic 4" descr="Chat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0302" y="1293093"/>
            <a:ext cx="1827742" cy="1827742"/>
          </a:xfrm>
          <a:prstGeom prst="rect">
            <a:avLst/>
          </a:prstGeom>
        </p:spPr>
      </p:pic>
      <p:pic>
        <p:nvPicPr>
          <p:cNvPr id="7" name="Graphic 6" descr="Blackboard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924" y="3621724"/>
            <a:ext cx="2594886" cy="2594886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1103AB2-C090-458F-B752-294F23AF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1"/>
            <a:ext cx="3439432" cy="3785157"/>
          </a:xfrm>
          <a:custGeom>
            <a:avLst/>
            <a:gdLst>
              <a:gd name="connsiteX0" fmla="*/ 198262 w 3439432"/>
              <a:gd name="connsiteY0" fmla="*/ 0 h 3785157"/>
              <a:gd name="connsiteX1" fmla="*/ 3439432 w 3439432"/>
              <a:gd name="connsiteY1" fmla="*/ 0 h 3785157"/>
              <a:gd name="connsiteX2" fmla="*/ 3439432 w 3439432"/>
              <a:gd name="connsiteY2" fmla="*/ 3697836 h 3785157"/>
              <a:gd name="connsiteX3" fmla="*/ 3318024 w 3439432"/>
              <a:gd name="connsiteY3" fmla="*/ 3729054 h 3785157"/>
              <a:gd name="connsiteX4" fmla="*/ 2761488 w 3439432"/>
              <a:gd name="connsiteY4" fmla="*/ 3785157 h 3785157"/>
              <a:gd name="connsiteX5" fmla="*/ 0 w 3439432"/>
              <a:gd name="connsiteY5" fmla="*/ 1023669 h 3785157"/>
              <a:gd name="connsiteX6" fmla="*/ 124151 w 3439432"/>
              <a:gd name="connsiteY6" fmla="*/ 202487 h 37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785157">
                <a:moveTo>
                  <a:pt x="198262" y="0"/>
                </a:moveTo>
                <a:lnTo>
                  <a:pt x="3439432" y="0"/>
                </a:lnTo>
                <a:lnTo>
                  <a:pt x="3439432" y="3697836"/>
                </a:lnTo>
                <a:lnTo>
                  <a:pt x="3318024" y="3729054"/>
                </a:lnTo>
                <a:cubicBezTo>
                  <a:pt x="3138258" y="3765839"/>
                  <a:pt x="2952129" y="3785157"/>
                  <a:pt x="2761488" y="3785157"/>
                </a:cubicBezTo>
                <a:cubicBezTo>
                  <a:pt x="1236360" y="3785157"/>
                  <a:pt x="0" y="2548797"/>
                  <a:pt x="0" y="1023669"/>
                </a:cubicBezTo>
                <a:cubicBezTo>
                  <a:pt x="0" y="737708"/>
                  <a:pt x="43466" y="461898"/>
                  <a:pt x="124151" y="20248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83D471F3-782A-4BA1-9CAB-FF5CDF0A7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2"/>
            <a:ext cx="3273238" cy="3618965"/>
          </a:xfrm>
          <a:custGeom>
            <a:avLst/>
            <a:gdLst>
              <a:gd name="connsiteX0" fmla="*/ 210437 w 3273238"/>
              <a:gd name="connsiteY0" fmla="*/ 0 h 3618965"/>
              <a:gd name="connsiteX1" fmla="*/ 3273238 w 3273238"/>
              <a:gd name="connsiteY1" fmla="*/ 0 h 3618965"/>
              <a:gd name="connsiteX2" fmla="*/ 3273238 w 3273238"/>
              <a:gd name="connsiteY2" fmla="*/ 3526409 h 3618965"/>
              <a:gd name="connsiteX3" fmla="*/ 3118338 w 3273238"/>
              <a:gd name="connsiteY3" fmla="*/ 3566238 h 3618965"/>
              <a:gd name="connsiteX4" fmla="*/ 2595295 w 3273238"/>
              <a:gd name="connsiteY4" fmla="*/ 3618965 h 3618965"/>
              <a:gd name="connsiteX5" fmla="*/ 0 w 3273238"/>
              <a:gd name="connsiteY5" fmla="*/ 1023670 h 3618965"/>
              <a:gd name="connsiteX6" fmla="*/ 203951 w 3273238"/>
              <a:gd name="connsiteY6" fmla="*/ 13464 h 361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618965">
                <a:moveTo>
                  <a:pt x="210437" y="0"/>
                </a:moveTo>
                <a:lnTo>
                  <a:pt x="3273238" y="0"/>
                </a:lnTo>
                <a:lnTo>
                  <a:pt x="3273238" y="3526409"/>
                </a:lnTo>
                <a:lnTo>
                  <a:pt x="3118338" y="3566238"/>
                </a:lnTo>
                <a:cubicBezTo>
                  <a:pt x="2949390" y="3600810"/>
                  <a:pt x="2774463" y="3618965"/>
                  <a:pt x="2595295" y="3618965"/>
                </a:cubicBezTo>
                <a:cubicBezTo>
                  <a:pt x="1161953" y="3618965"/>
                  <a:pt x="0" y="2457012"/>
                  <a:pt x="0" y="1023670"/>
                </a:cubicBezTo>
                <a:cubicBezTo>
                  <a:pt x="0" y="665335"/>
                  <a:pt x="72622" y="323961"/>
                  <a:pt x="203951" y="1346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Books on Shelf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25024" y="327889"/>
            <a:ext cx="2260711" cy="22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8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52D1D-A0DF-5384-EAA9-5691E030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2806F-704D-5588-127C-641050906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 generate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 amounts of user-generated content daily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tweets, posts, comments, and images.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this data loses its importance within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short time frame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continues occupying valuable storage.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data storage systems use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compression technique for all data types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regardless of their importance or frequency of access.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storage costs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compression ratios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retrieval times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high-demand data.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introduces a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semantic-aware, adaptive compression model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classifies data into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Hot, Warm,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tiers based on its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and relevance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applies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compression algorithms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each.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609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DEDCC5D-8B8A-40DB-BE90-A3AA27C6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3C14A-62DA-BDDE-6156-8950D8C7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vs Our Approach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2E14C5-6E00-4A8C-B8FB-A6D53A66A9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2859668"/>
              </p:ext>
            </p:extLst>
          </p:nvPr>
        </p:nvGraphicFramePr>
        <p:xfrm>
          <a:off x="1284626" y="3060383"/>
          <a:ext cx="9848088" cy="278601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282696">
                  <a:extLst>
                    <a:ext uri="{9D8B030D-6E8A-4147-A177-3AD203B41FA5}">
                      <a16:colId xmlns:a16="http://schemas.microsoft.com/office/drawing/2014/main" val="2384688044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1802590678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1955623694"/>
                    </a:ext>
                  </a:extLst>
                </a:gridCol>
              </a:tblGrid>
              <a:tr h="348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Aspect</a:t>
                      </a:r>
                      <a:endParaRPr 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Traditional Systems</a:t>
                      </a:r>
                      <a:endParaRPr 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Our Proposed System</a:t>
                      </a:r>
                      <a:endParaRPr 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extLst>
                  <a:ext uri="{0D108BD9-81ED-4DB2-BD59-A6C34878D82A}">
                    <a16:rowId xmlns:a16="http://schemas.microsoft.com/office/drawing/2014/main" val="4292683664"/>
                  </a:ext>
                </a:extLst>
              </a:tr>
              <a:tr h="348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Compression Method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Single (GZIP/DEFLATE)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Adaptive (LZ4, Zstd, Brotli)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extLst>
                  <a:ext uri="{0D108BD9-81ED-4DB2-BD59-A6C34878D82A}">
                    <a16:rowId xmlns:a16="http://schemas.microsoft.com/office/drawing/2014/main" val="2814302624"/>
                  </a:ext>
                </a:extLst>
              </a:tr>
              <a:tr h="348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Data Classification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Time-based (Static)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Impact – based (Dynamic)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/>
                </a:tc>
                <a:extLst>
                  <a:ext uri="{0D108BD9-81ED-4DB2-BD59-A6C34878D82A}">
                    <a16:rowId xmlns:a16="http://schemas.microsoft.com/office/drawing/2014/main" val="1184874"/>
                  </a:ext>
                </a:extLst>
              </a:tr>
              <a:tr h="348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Semantic Analysis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None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Uses Sentence-BERT embeddings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extLst>
                  <a:ext uri="{0D108BD9-81ED-4DB2-BD59-A6C34878D82A}">
                    <a16:rowId xmlns:a16="http://schemas.microsoft.com/office/drawing/2014/main" val="3476868906"/>
                  </a:ext>
                </a:extLst>
              </a:tr>
              <a:tr h="348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Short Record Handling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Inefficient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Dictionary + batch compression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extLst>
                  <a:ext uri="{0D108BD9-81ED-4DB2-BD59-A6C34878D82A}">
                    <a16:rowId xmlns:a16="http://schemas.microsoft.com/office/drawing/2014/main" val="4061174056"/>
                  </a:ext>
                </a:extLst>
              </a:tr>
              <a:tr h="348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Retrieval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Full archive decompression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Selective decompression via metadata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extLst>
                  <a:ext uri="{0D108BD9-81ED-4DB2-BD59-A6C34878D82A}">
                    <a16:rowId xmlns:a16="http://schemas.microsoft.com/office/drawing/2014/main" val="2546337942"/>
                  </a:ext>
                </a:extLst>
              </a:tr>
              <a:tr h="348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Efficiency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Medium ratio, high latency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High ratio, low latency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extLst>
                  <a:ext uri="{0D108BD9-81ED-4DB2-BD59-A6C34878D82A}">
                    <a16:rowId xmlns:a16="http://schemas.microsoft.com/office/drawing/2014/main" val="2570143508"/>
                  </a:ext>
                </a:extLst>
              </a:tr>
              <a:tr h="348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Storage Cost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High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Reduced up to 70–80%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636" marR="85636" marT="42818" marB="42818" anchor="ctr"/>
                </a:tc>
                <a:extLst>
                  <a:ext uri="{0D108BD9-81ED-4DB2-BD59-A6C34878D82A}">
                    <a16:rowId xmlns:a16="http://schemas.microsoft.com/office/drawing/2014/main" val="3553682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98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64191-B196-062A-CEC9-494AB9AE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Our System Works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25615-58A4-B28A-A11E-BF62FD1E9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971" y="1278458"/>
            <a:ext cx="5776770" cy="4300447"/>
          </a:xfrm>
        </p:spPr>
        <p:txBody>
          <a:bodyPr anchor="t">
            <a:no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social media posts (text, likes, shares, comments).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Scoring: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 a weighted score based on engagement + semantic relevance.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 Classification: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Frequently accessed (trending) posts.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Moderately active posts.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Old or low-impact posts.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by Tier: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 → LZ4: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Very fast compression, low ratio.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 →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Zstandard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Balanced ratio &amp; speed.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→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Brotli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compression, slower.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Retrieval: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stored separately for quick lookup.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required data block is decompressed during retrieval.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393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61C837-D9E2-6A38-5949-FB3277A3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Compression Algorithms Used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B8345-1308-8128-A0C5-F5ECE1AAC1BA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Byte-Level Logic: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LZ4: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LZ77 pattern matching with minimal entropy coding — very fast, ideal for hot-tier.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Zstandard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LZ77 + Finite State Entropy (FSE) encoding — supports dictionaries and tunable levels, used for warm-tier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Brotli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LZ77 + Huffman + static dictionaries — optimized for textual web data, perfect for cold-tier.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451C83-E8D8-BB80-1371-C177EF6459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3346117"/>
              </p:ext>
            </p:extLst>
          </p:nvPr>
        </p:nvGraphicFramePr>
        <p:xfrm>
          <a:off x="5911532" y="2870182"/>
          <a:ext cx="5150279" cy="2942391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07410">
                  <a:extLst>
                    <a:ext uri="{9D8B030D-6E8A-4147-A177-3AD203B41FA5}">
                      <a16:colId xmlns:a16="http://schemas.microsoft.com/office/drawing/2014/main" val="3460513109"/>
                    </a:ext>
                  </a:extLst>
                </a:gridCol>
                <a:gridCol w="1683616">
                  <a:extLst>
                    <a:ext uri="{9D8B030D-6E8A-4147-A177-3AD203B41FA5}">
                      <a16:colId xmlns:a16="http://schemas.microsoft.com/office/drawing/2014/main" val="490197351"/>
                    </a:ext>
                  </a:extLst>
                </a:gridCol>
                <a:gridCol w="741011">
                  <a:extLst>
                    <a:ext uri="{9D8B030D-6E8A-4147-A177-3AD203B41FA5}">
                      <a16:colId xmlns:a16="http://schemas.microsoft.com/office/drawing/2014/main" val="3075670150"/>
                    </a:ext>
                  </a:extLst>
                </a:gridCol>
                <a:gridCol w="1618242">
                  <a:extLst>
                    <a:ext uri="{9D8B030D-6E8A-4147-A177-3AD203B41FA5}">
                      <a16:colId xmlns:a16="http://schemas.microsoft.com/office/drawing/2014/main" val="3770645045"/>
                    </a:ext>
                  </a:extLst>
                </a:gridCol>
              </a:tblGrid>
              <a:tr h="531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Algorithm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Function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Ideal Tier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Why Chosen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extLst>
                  <a:ext uri="{0D108BD9-81ED-4DB2-BD59-A6C34878D82A}">
                    <a16:rowId xmlns:a16="http://schemas.microsoft.com/office/drawing/2014/main" val="2269439202"/>
                  </a:ext>
                </a:extLst>
              </a:tr>
              <a:tr h="735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LZ4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Uses LZ77 pattern matching, minimal entropy coding.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Hot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Ultra-fast read/write for real-time access.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extLst>
                  <a:ext uri="{0D108BD9-81ED-4DB2-BD59-A6C34878D82A}">
                    <a16:rowId xmlns:a16="http://schemas.microsoft.com/office/drawing/2014/main" val="3960725493"/>
                  </a:ext>
                </a:extLst>
              </a:tr>
              <a:tr h="939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/>
                        <a:t>Zstandard</a:t>
                      </a:r>
                      <a:r>
                        <a:rPr lang="en-US" sz="1300" b="1" dirty="0"/>
                        <a:t> (</a:t>
                      </a:r>
                      <a:r>
                        <a:rPr lang="en-US" sz="1300" b="1" dirty="0" err="1"/>
                        <a:t>Zstd</a:t>
                      </a:r>
                      <a:r>
                        <a:rPr lang="en-US" sz="1300" b="1" dirty="0"/>
                        <a:t>)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Combines LZ77 + Finite State Entropy (FSE).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Warm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Adjustable compression level; supports dictionaries.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extLst>
                  <a:ext uri="{0D108BD9-81ED-4DB2-BD59-A6C34878D82A}">
                    <a16:rowId xmlns:a16="http://schemas.microsoft.com/office/drawing/2014/main" val="2109990885"/>
                  </a:ext>
                </a:extLst>
              </a:tr>
              <a:tr h="735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 err="1"/>
                        <a:t>Brotli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 anchor="ctr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Uses LZ77 + Huffman + static dictionaries.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Cold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Best for short text compression; smallest output.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571" marR="87571" marT="43786" marB="43786"/>
                </a:tc>
                <a:extLst>
                  <a:ext uri="{0D108BD9-81ED-4DB2-BD59-A6C34878D82A}">
                    <a16:rowId xmlns:a16="http://schemas.microsoft.com/office/drawing/2014/main" val="1066967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0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B6CE70-143F-4600-A39D-8F48C888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Our Method Is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F1036-85ED-98EB-1150-EB7897B33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Tier-Adaptive: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Optimizes speed for hot data, ratio for cold data.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Semantic-Aware: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Sentence-BERT to preserve important content.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Less redundant compression, up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less CPU power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Retrieval: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decompresses the needed record, improving response times.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Impact: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cloud storage cost, improves scalability for social media platforms.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Design: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to extend for images, videos, or multi-modal data.</a:t>
            </a:r>
          </a:p>
        </p:txBody>
      </p:sp>
    </p:spTree>
    <p:extLst>
      <p:ext uri="{BB962C8B-B14F-4D97-AF65-F5344CB8AC3E}">
        <p14:creationId xmlns:p14="http://schemas.microsoft.com/office/powerpoint/2010/main" val="830110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D78998-2BA0-6FA3-675A-C2AB32D5F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Summary &amp;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E2468-8FE0-2EF8-938C-04BEFA5AE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compress all data the same — wasting storage and compute.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approach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analyzes, classifies, and compresses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posts intelligently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LZ4,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Zstd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Brotli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tier.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access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space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storage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Plans: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auto re-tiering (real-time).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Delta compression for reposts.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AWS S3 &amp; Glacier for real deployment.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+ checksum for secure archival.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943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Books on Shelf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1" y="982364"/>
            <a:ext cx="2659472" cy="265947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DA47BC-3069-47F5-8257-24B3B1F76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927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Chat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0143" y="983211"/>
            <a:ext cx="2646677" cy="264667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2B920A-73AD-402A-8EEF-B88E1A93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68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Blackboard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56859" y="982364"/>
            <a:ext cx="2648371" cy="2648371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C9EB70-BC82-414A-BF8D-AD7FC672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609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Open Book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25269" y="1004677"/>
            <a:ext cx="2648372" cy="264837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AE95D8F-9825-4222-8846-E3461598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38" y="4756638"/>
            <a:ext cx="11139854" cy="930447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217665F-0036-444A-8D4A-33AF36A3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96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781794_win32_fixed.potx" id="{FFA6945E-0D2E-49A3-B8AE-0157B47B7617}" vid="{3D53E5D5-FE42-40E3-89B4-70F55FAC32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 presentation</Template>
  <TotalTime>63</TotalTime>
  <Words>645</Words>
  <Application>Microsoft Office PowerPoint</Application>
  <PresentationFormat>Widescreen</PresentationFormat>
  <Paragraphs>89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Times New Roman</vt:lpstr>
      <vt:lpstr>Office Theme</vt:lpstr>
      <vt:lpstr>Semantic-Aware Archival of Low-Impact Social Media Posts Using Tiered Compression and Cold Storage</vt:lpstr>
      <vt:lpstr>Problem Statement</vt:lpstr>
      <vt:lpstr>Traditional vs Our Approach</vt:lpstr>
      <vt:lpstr>How Our System Works</vt:lpstr>
      <vt:lpstr>Compression Algorithms Used</vt:lpstr>
      <vt:lpstr>Why Our Method Is Better</vt:lpstr>
      <vt:lpstr>Summary &amp; 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G</dc:creator>
  <cp:lastModifiedBy>Alyssa Mariam</cp:lastModifiedBy>
  <cp:revision>3</cp:revision>
  <dcterms:created xsi:type="dcterms:W3CDTF">2025-11-12T16:16:58Z</dcterms:created>
  <dcterms:modified xsi:type="dcterms:W3CDTF">2025-11-13T06:37:58Z</dcterms:modified>
</cp:coreProperties>
</file>